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Arial"/>
              </a:rPr>
              <a:t>Fraud cases (top 5 types)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 (top 5 types)</c:v>
                </c:pt>
              </c:strCache>
            </c:strRef>
          </c:tx>
          <c:spPr>
            <a:solidFill>
              <a:srgbClr val="5B7DB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UPI</c:v>
                  </c:pt>
                  <c:pt idx="1">
                    <c:v>IMPS</c:v>
                  </c:pt>
                  <c:pt idx="2">
                    <c:v>RTGS</c:v>
                  </c:pt>
                  <c:pt idx="3">
                    <c:v>NEFT</c:v>
                  </c:pt>
                  <c:pt idx="4">
                    <c:v>POS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1211</c:v>
                </c:pt>
                <c:pt idx="1">
                  <c:v>624</c:v>
                </c:pt>
                <c:pt idx="2">
                  <c:v>611</c:v>
                </c:pt>
                <c:pt idx="3">
                  <c:v>581</c:v>
                </c:pt>
                <c:pt idx="4">
                  <c:v>481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Arial"/>
              </a:rPr>
              <a:t>Fraud value, ₹ crore (top 5 types)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value, ₹ crore (top 5 types)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RTGS</c:v>
                  </c:pt>
                  <c:pt idx="1">
                    <c:v>Cheque</c:v>
                  </c:pt>
                  <c:pt idx="2">
                    <c:v>NEFT</c:v>
                  </c:pt>
                  <c:pt idx="3">
                    <c:v>Net_Banking</c:v>
                  </c:pt>
                  <c:pt idx="4">
                    <c:v>IMPS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38.56</c:v>
                </c:pt>
                <c:pt idx="1">
                  <c:v>10.6</c:v>
                </c:pt>
                <c:pt idx="2">
                  <c:v>6.92</c:v>
                </c:pt>
                <c:pt idx="3">
                  <c:v>1.1</c:v>
                </c:pt>
                <c:pt idx="4">
                  <c:v>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Arial"/>
              </a:rPr>
              <a:t>Fraud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Up to ₹5L</c:v>
                  </c:pt>
                  <c:pt idx="1">
                    <c:v>Above ₹5L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8.22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value caught</c:v>
                </c:pt>
              </c:strCache>
            </c:strRef>
          </c:tx>
          <c:spPr>
            <a:solidFill>
              <a:srgbClr val="0FB5A6"/>
            </a:solidFill>
            <a:ln w="38100" cap="flat">
              <a:solidFill>
                <a:srgbClr val="0FB5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B5A6"/>
              </a:solidFill>
              <a:ln w="9525" cap="flat">
                <a:solidFill>
                  <a:srgbClr val="0FB5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80.6</c:v>
                </c:pt>
                <c:pt idx="1">
                  <c:v>93.1</c:v>
                </c:pt>
                <c:pt idx="2">
                  <c:v>96.4</c:v>
                </c:pt>
                <c:pt idx="3">
                  <c:v>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Fraud cases caught</c:v>
                </c:pt>
              </c:strCache>
            </c:strRef>
          </c:tx>
          <c:spPr>
            <a:solidFill>
              <a:srgbClr val="E5484D"/>
            </a:solidFill>
            <a:ln w="381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1%</c:v>
                  </c:pt>
                  <c:pt idx="1">
                    <c:v>5%</c:v>
                  </c:pt>
                  <c:pt idx="2">
                    <c:v>10%</c:v>
                  </c:pt>
                  <c:pt idx="3">
                    <c:v>20%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14.1</c:v>
                </c:pt>
                <c:pt idx="2">
                  <c:v>18.6</c:v>
                </c:pt>
                <c:pt idx="3">
                  <c:v>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Share of transactions reviewed, largest first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Arial"/>
              </a:rPr>
              <a:t>Stuck value, ₹ crore (top 5 types)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Stuck value, ₹ crore (top 5 types)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RTGS</c:v>
                  </c:pt>
                  <c:pt idx="1">
                    <c:v>Cheque</c:v>
                  </c:pt>
                  <c:pt idx="2">
                    <c:v>NEFT</c:v>
                  </c:pt>
                  <c:pt idx="3">
                    <c:v>Net_Banking</c:v>
                  </c:pt>
                  <c:pt idx="4">
                    <c:v>IMPS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71.67</c:v>
                </c:pt>
                <c:pt idx="1">
                  <c:v>25.73</c:v>
                </c:pt>
                <c:pt idx="2">
                  <c:v>22.41</c:v>
                </c:pt>
                <c:pt idx="3">
                  <c:v>6.55</c:v>
                </c:pt>
                <c:pt idx="4">
                  <c:v>4.35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Arial"/>
              </a:rPr>
              <a:t>KYC exposure, ₹ crore (top 5 types)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KYC exposure, ₹ crore (top 5 types)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RTGS</c:v>
                  </c:pt>
                  <c:pt idx="1">
                    <c:v>Cheque</c:v>
                  </c:pt>
                  <c:pt idx="2">
                    <c:v>NEFT</c:v>
                  </c:pt>
                  <c:pt idx="3">
                    <c:v>Net_Banking</c:v>
                  </c:pt>
                  <c:pt idx="4">
                    <c:v>IMPS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109.33</c:v>
                </c:pt>
                <c:pt idx="1">
                  <c:v>36.42</c:v>
                </c:pt>
                <c:pt idx="2">
                  <c:v>33.49</c:v>
                </c:pt>
                <c:pt idx="3">
                  <c:v>9.56</c:v>
                </c:pt>
                <c:pt idx="4">
                  <c:v>6.71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CASE STUDY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RiskLens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Fraud, stuck payments and KYC exposure in Indian banking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550,000 transactions  |  Python  |  MySQL  |  Power 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869680" y="731520"/>
            <a:ext cx="1737360" cy="173736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0" y="731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550K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69680" y="2651760"/>
            <a:ext cx="1737360" cy="173736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869680" y="265176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 cr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value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869680" y="4572000"/>
            <a:ext cx="1737360" cy="1737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869680" y="4572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₹203 cr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gap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leaks, one question: where should the bank act first?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₹58.2 cr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fraud, 0.89% of transactions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34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reviewers can check only a few transactions, which ones first?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34256" y="155448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178308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857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Stuck money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₹135.7 cr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608576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failed, pending or reversed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08576" y="4434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start recovery?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19872" y="155448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94192" y="17830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9419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79992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exposure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651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₹203 cr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429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with KYC pending or expired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44348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identity risk biggest?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file to decision-ready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clean, build features, explore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0" y="1737360"/>
            <a:ext cx="548640" cy="5486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26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query, reconcile with Python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15544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737360"/>
            <a:ext cx="548640" cy="5486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views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and summary views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15544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737360"/>
            <a:ext cx="548640" cy="5486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measures, 3-page dashboard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26880" y="155448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09760" y="1737360"/>
            <a:ext cx="548640" cy="548640"/>
          </a:xfrm>
          <a:prstGeom prst="ellipse">
            <a:avLst/>
          </a:prstGeom>
          <a:solidFill>
            <a:srgbClr val="0FB5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097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9718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findings, 3 recommendations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48640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550,000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346704" y="43891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346704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33" name="Text 31"/>
          <p:cNvSpPr txBox="1"/>
          <p:nvPr/>
        </p:nvSpPr>
        <p:spPr>
          <a:xfrm>
            <a:off x="3346704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44768" y="43891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6144768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6144768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942832" y="438912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0B1F3A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942832" y="4572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39" name="Text 37"/>
          <p:cNvSpPr txBox="1"/>
          <p:nvPr/>
        </p:nvSpPr>
        <p:spPr>
          <a:xfrm>
            <a:off x="8942832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before trusted: the audit shaped the whole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and zero impossible amounts: the transaction table is clean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334256" y="1554480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08576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377,134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loan_type cells, filled with "No Loan" because they are blank only when the customer has no loan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19872" y="1554480"/>
            <a:ext cx="3511296" cy="42062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94192" y="1920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0.7%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32004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have a single credit score, so customer_id is not a real person: no churn or segmentation model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leads on fraud cases; RTGS leads on rupees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99632" y="1371600"/>
            <a:ext cx="54406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685800" y="1463040"/>
          <a:ext cx="5166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336792" y="1463040"/>
          <a:ext cx="5166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reviewing by count would look in the wrong place: UPI has 1,211 cases but only ₹0.16 cr, RTGS has 611 cases and ₹38.56 cr.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jumps tenfold above ₹5 lakh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above ₹5 lakh (6,025 of 550,000)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80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 value sits in those transactions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6062472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9" name="Chart 0" descr=""/>
          <p:cNvGraphicFramePr/>
          <p:nvPr/>
        </p:nvGraphicFramePr>
        <p:xfrm>
          <a:off x="5760720" y="155448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sits exactly at ₹5,00,000, which looks rule-generated. Validate the threshold on real data before using it as policy.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biggest 1% and protect 81% of the rupees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8580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55448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463040"/>
            <a:ext cx="39593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VALUE caught by reviewing the top 1%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80960" y="3840480"/>
            <a:ext cx="39593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55280" y="4023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892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CASES caught at the same effort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is flat at about 8%; the rupees are not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4630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142232" cy="44805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₹135.7 cr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423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in total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383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 ₹69.69 cr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 ₹33.45 cr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 ₹32.58 cr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754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RTGS alone holds 53% of the stuck value.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₹203 crore moved with KYC not verified; RTGS drives over half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685800" y="146304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142232" cy="448056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12.4%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423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value moved had KYC pending or expired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2461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218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4114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of ₹10 lakh or more (₹38.5 cr)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4937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states: Maharashtra 36.8, Karnataka 28.5, Tamil Nadu 25.6 (₹ cr)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RiskLens dashboard: one page per problem</a:t>
            </a:r>
            <a:endParaRPr lang="en-US" sz="3000" dirty="0"/>
          </a:p>
        </p:txBody>
      </p:sp>
      <p:pic>
        <p:nvPicPr>
          <p:cNvPr id="3" name="Image 0" descr="/mnt/user-data/uploads/179075936094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3566160" cy="2002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Fraud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06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versus value, review-capacity curve, ₹5L step</a:t>
            </a:r>
            <a:endParaRPr lang="en-US" sz="1400" dirty="0"/>
          </a:p>
        </p:txBody>
      </p:sp>
      <p:pic>
        <p:nvPicPr>
          <p:cNvPr id="6" name="Image 1" descr="/mnt/user-data/uploads/1790760038061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396" y="1554480"/>
            <a:ext cx="3566160" cy="20025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11396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Stuck money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311396" y="4206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failure rate, uneven rupee impact by type and status</a:t>
            </a:r>
            <a:endParaRPr lang="en-US" sz="1400" dirty="0"/>
          </a:p>
        </p:txBody>
      </p:sp>
      <p:pic>
        <p:nvPicPr>
          <p:cNvPr id="9" name="Image 2" descr="/mnt/user-data/uploads/1790761904563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1554480"/>
            <a:ext cx="3566160" cy="200253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74152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3: KYC exposure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074152" y="4206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by state, KYC status and payment type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539496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548640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3346704" y="539496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3346704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44768" y="539496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144768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titles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8942832" y="5394960"/>
            <a:ext cx="25603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8942832" y="5394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to SQL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recommendations, each backed by one number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reviews by value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transactions above ₹5L to manual review first; use light automated checks for high-volume, low-value channels like UPI.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of fraud value in 1.1% of transactions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146304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69164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by rupee size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RTGS, Cheque and NEFT first and set an ageing limit for Pending payments.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08576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stuck value (₹119.8 cr)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9872" y="1463040"/>
            <a:ext cx="3511296" cy="448056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94192" y="16916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941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Step-up KYC on large payments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94192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re-verification at ₹10L+ when KYC is pending or expired; start with RTGS and the top three states.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94192" y="4937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transactions, ₹38.5 cr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and what comes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99632" y="146304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cannot tell us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is not a reliable person, so findings describe transactions only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₹5L fraud step looks rule-generated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 explained failure (about 8% everywhere)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 belongs to the transaction, not the customer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228600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₹5L threshold on real bank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monthly trend for fraud and failures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labelled fraud data, train a classifier judged on precision and recall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refresh from MySQL to Power BI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by rupees, not by case count.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2305A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06324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B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 → 84%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hold the fraud value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34256" y="283464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2305A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34256" y="306324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₹135.7 cr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17136" y="39319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stuck; recover the biggest first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19872" y="2834640"/>
            <a:ext cx="3511296" cy="1828800"/>
          </a:xfrm>
          <a:prstGeom prst="roundRect">
            <a:avLst>
              <a:gd name="adj" fmla="val 6000"/>
            </a:avLst>
          </a:prstGeom>
          <a:solidFill>
            <a:srgbClr val="12305A"/>
          </a:solidFill>
          <a:ln w="9525">
            <a:solidFill>
              <a:srgbClr val="1E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19872" y="3063240"/>
            <a:ext cx="3511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₹203 cr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02752" y="3931920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with KYC not verified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 |   Python  |  MySQL  |  Power BI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</dc:title>
  <dc:subject>PptxGenJS Presentation</dc:subject>
  <dc:creator>PptxGenJS</dc:creator>
  <cp:lastModifiedBy>PptxGenJS</cp:lastModifiedBy>
  <cp:revision>1</cp:revision>
  <dcterms:created xsi:type="dcterms:W3CDTF">2026-10-01T05:03:24Z</dcterms:created>
  <dcterms:modified xsi:type="dcterms:W3CDTF">2026-10-01T05:03:24Z</dcterms:modified>
</cp:coreProperties>
</file>